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8288000" cy="10287000"/>
  <p:notesSz cx="6858000" cy="9144000"/>
  <p:embeddedFontLst>
    <p:embeddedFont>
      <p:font typeface="Poppins" panose="020B0502040204020203" pitchFamily="2" charset="0"/>
      <p:regular r:id="rId9"/>
    </p:embeddedFont>
    <p:embeddedFont>
      <p:font typeface="Poppins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565424" y="2427294"/>
            <a:ext cx="4356944" cy="2693384"/>
          </a:xfrm>
          <a:custGeom>
            <a:avLst/>
            <a:gdLst/>
            <a:ahLst/>
            <a:cxnLst/>
            <a:rect l="l" t="t" r="r" b="b"/>
            <a:pathLst>
              <a:path w="4356944" h="2693384">
                <a:moveTo>
                  <a:pt x="0" y="0"/>
                </a:moveTo>
                <a:lnTo>
                  <a:pt x="4356944" y="0"/>
                </a:lnTo>
                <a:lnTo>
                  <a:pt x="4356944" y="2693383"/>
                </a:lnTo>
                <a:lnTo>
                  <a:pt x="0" y="2693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657491" y="5641470"/>
            <a:ext cx="2779312" cy="2979769"/>
          </a:xfrm>
          <a:custGeom>
            <a:avLst/>
            <a:gdLst/>
            <a:ahLst/>
            <a:cxnLst/>
            <a:rect l="l" t="t" r="r" b="b"/>
            <a:pathLst>
              <a:path w="2779312" h="2979769">
                <a:moveTo>
                  <a:pt x="0" y="0"/>
                </a:moveTo>
                <a:lnTo>
                  <a:pt x="2779312" y="0"/>
                </a:lnTo>
                <a:lnTo>
                  <a:pt x="2779312" y="2979769"/>
                </a:lnTo>
                <a:lnTo>
                  <a:pt x="0" y="297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954299" y="5558827"/>
            <a:ext cx="1936138" cy="3914984"/>
          </a:xfrm>
          <a:custGeom>
            <a:avLst/>
            <a:gdLst/>
            <a:ahLst/>
            <a:cxnLst/>
            <a:rect l="l" t="t" r="r" b="b"/>
            <a:pathLst>
              <a:path w="1936138" h="3914984">
                <a:moveTo>
                  <a:pt x="0" y="0"/>
                </a:moveTo>
                <a:lnTo>
                  <a:pt x="1936137" y="0"/>
                </a:lnTo>
                <a:lnTo>
                  <a:pt x="1936137" y="3914984"/>
                </a:lnTo>
                <a:lnTo>
                  <a:pt x="0" y="39149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580167" y="567270"/>
            <a:ext cx="14848305" cy="1325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80"/>
              </a:lnSpc>
            </a:pPr>
            <a:r>
              <a:rPr lang="en-US" sz="10400" b="1" spc="-52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Digital Literacy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132978"/>
            <a:ext cx="8489033" cy="6902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2967" lvl="1" indent="-426484" algn="l">
              <a:lnSpc>
                <a:spcPts val="5531"/>
              </a:lnSpc>
              <a:buFont typeface="Arial"/>
              <a:buChar char="•"/>
            </a:pPr>
            <a:r>
              <a:rPr lang="en-US" sz="3950" b="1" spc="-1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Ability to use digital tools effectively.</a:t>
            </a:r>
          </a:p>
          <a:p>
            <a:pPr marL="852967" lvl="1" indent="-426484" algn="l">
              <a:lnSpc>
                <a:spcPts val="5531"/>
              </a:lnSpc>
              <a:buFont typeface="Arial"/>
              <a:buChar char="•"/>
            </a:pPr>
            <a:r>
              <a:rPr lang="en-US" sz="3950" b="1" spc="-1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Understanding online safety and security.</a:t>
            </a:r>
          </a:p>
          <a:p>
            <a:pPr marL="852967" lvl="1" indent="-426484" algn="l">
              <a:lnSpc>
                <a:spcPts val="5531"/>
              </a:lnSpc>
              <a:buFont typeface="Arial"/>
              <a:buChar char="•"/>
            </a:pPr>
            <a:r>
              <a:rPr lang="en-US" sz="3950" b="1" spc="-1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Finding , evaluating, and using information.</a:t>
            </a:r>
          </a:p>
          <a:p>
            <a:pPr marL="852967" lvl="1" indent="-426484" algn="l">
              <a:lnSpc>
                <a:spcPts val="5531"/>
              </a:lnSpc>
              <a:buFont typeface="Arial"/>
              <a:buChar char="•"/>
            </a:pPr>
            <a:r>
              <a:rPr lang="en-US" sz="3950" b="1" spc="-1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Communicating responsibly online.</a:t>
            </a:r>
          </a:p>
          <a:p>
            <a:pPr marL="852967" lvl="1" indent="-426484" algn="l">
              <a:lnSpc>
                <a:spcPts val="5531"/>
              </a:lnSpc>
              <a:buFont typeface="Arial"/>
              <a:buChar char="•"/>
            </a:pPr>
            <a:r>
              <a:rPr lang="en-US" sz="3950" b="1" spc="-1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Creating and sharing digital content.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32326" y="394308"/>
            <a:ext cx="15426974" cy="1230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51"/>
              </a:lnSpc>
            </a:pPr>
            <a:r>
              <a:rPr lang="en-US" sz="9633" b="1" spc="-48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Safe Internet Practices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652657"/>
            <a:ext cx="19181625" cy="2995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1"/>
              </a:lnSpc>
            </a:pPr>
            <a:r>
              <a:rPr lang="en-US" sz="4543" b="1" spc="-227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Safe Browsing</a:t>
            </a:r>
          </a:p>
          <a:p>
            <a:pPr algn="l">
              <a:lnSpc>
                <a:spcPts val="5725"/>
              </a:lnSpc>
            </a:pPr>
            <a:r>
              <a:rPr lang="en-US" sz="4089" spc="-2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Check website URLs before login </a:t>
            </a:r>
          </a:p>
          <a:p>
            <a:pPr algn="l">
              <a:lnSpc>
                <a:spcPts val="5726"/>
              </a:lnSpc>
            </a:pPr>
            <a:r>
              <a:rPr lang="en-US" sz="4090" spc="-2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Avoid clicking unknown/suspicious links</a:t>
            </a:r>
          </a:p>
          <a:p>
            <a:pPr algn="l">
              <a:lnSpc>
                <a:spcPts val="5725"/>
              </a:lnSpc>
              <a:spcBef>
                <a:spcPct val="0"/>
              </a:spcBef>
            </a:pPr>
            <a:r>
              <a:rPr lang="en-US" sz="4089" spc="-204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Download apps only from trusted sources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11395124" y="4514806"/>
            <a:ext cx="29467398" cy="2688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356"/>
              </a:lnSpc>
            </a:pPr>
            <a:r>
              <a:rPr lang="en-US" sz="4540" b="1" spc="-227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Personal Data Protection                       </a:t>
            </a:r>
          </a:p>
          <a:p>
            <a:pPr algn="r">
              <a:lnSpc>
                <a:spcPts val="4910"/>
              </a:lnSpc>
            </a:pPr>
            <a:r>
              <a:rPr lang="en-US" sz="3507" spc="-17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Never share OTP, passwords, or bank details</a:t>
            </a:r>
          </a:p>
          <a:p>
            <a:pPr algn="r">
              <a:lnSpc>
                <a:spcPts val="4910"/>
              </a:lnSpc>
            </a:pPr>
            <a:r>
              <a:rPr lang="en-US" sz="3507" spc="-17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 Avoid posting personal info publicly                  </a:t>
            </a:r>
          </a:p>
          <a:p>
            <a:pPr algn="r">
              <a:lnSpc>
                <a:spcPts val="4910"/>
              </a:lnSpc>
              <a:spcBef>
                <a:spcPct val="0"/>
              </a:spcBef>
            </a:pPr>
            <a:r>
              <a:rPr lang="en-US" sz="3507" spc="-175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 careful while using public wi-fi                      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02704" y="6863709"/>
            <a:ext cx="19410824" cy="301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4598" b="1" spc="-22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Smart Behaviour</a:t>
            </a:r>
          </a:p>
          <a:p>
            <a:pPr algn="l">
              <a:lnSpc>
                <a:spcPts val="5722"/>
              </a:lnSpc>
            </a:pPr>
            <a:r>
              <a:rPr lang="en-US" sz="4087" spc="-2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Think before clicking or downloading </a:t>
            </a:r>
          </a:p>
          <a:p>
            <a:pPr algn="l">
              <a:lnSpc>
                <a:spcPts val="5722"/>
              </a:lnSpc>
            </a:pPr>
            <a:r>
              <a:rPr lang="en-US" sz="4087" spc="-2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Don't trust unknown emails or messages </a:t>
            </a:r>
          </a:p>
          <a:p>
            <a:pPr algn="l">
              <a:lnSpc>
                <a:spcPts val="5981"/>
              </a:lnSpc>
              <a:spcBef>
                <a:spcPct val="0"/>
              </a:spcBef>
            </a:pPr>
            <a:r>
              <a:rPr lang="en-US" sz="4272" spc="-2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 out from  shared/public devices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1626465" y="490008"/>
            <a:ext cx="21540930" cy="120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sz="8733" b="1" spc="-43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Professional Online Presence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8763" y="2082459"/>
            <a:ext cx="13337749" cy="302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b="1" spc="-2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Profile and Identity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real name and clear identity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Keep a professional profile photo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Maintain a clean username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8763" y="5498945"/>
            <a:ext cx="13337749" cy="302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b="1" spc="-2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Communication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formal email(e.g. college email)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Write clear and respectful messages 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Avoid slang in professional platforms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30123" y="8880157"/>
            <a:ext cx="14408845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spc="-17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 strong online presence builds credibility and career opportunities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1413278" y="490008"/>
            <a:ext cx="21540930" cy="120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sz="8733" b="1" spc="-43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Professional Online Presence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1163" y="2234859"/>
            <a:ext cx="13337749" cy="302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b="1" spc="-2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Online Behaviour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Think before commenting or posting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Avoid offensive or controversial content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 respectful in discussions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1163" y="5651345"/>
            <a:ext cx="13337749" cy="302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b="1" spc="-2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Digital Footprint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Everything online stays permanent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Employers may check your profiles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Maintain a positive online image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52764" y="8880157"/>
            <a:ext cx="14408845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spc="-17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 strong online presence builds credibility and career opportunities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1413278" y="490008"/>
            <a:ext cx="21540930" cy="120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sz="8733" b="1" spc="-43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Smart Digital Habits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1163" y="2234859"/>
            <a:ext cx="13337749" cy="302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b="1" spc="-2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Awareness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Think before clicking links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Verify information before sharing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Stay alert to online scams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1163" y="5651345"/>
            <a:ext cx="13337749" cy="302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b="1" spc="-2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Security Habits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Update passwords regularly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Enable privacy settings 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Keep apps and devices updated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36988" y="8880157"/>
            <a:ext cx="15240398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spc="-17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Good digital Habits ensure safety, productivity, and Long-term success.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1260878" y="642408"/>
            <a:ext cx="21540930" cy="120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sz="8733" b="1" spc="-43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Smart Digital Habits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83563" y="2387259"/>
            <a:ext cx="13337749" cy="302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b="1" spc="-2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Responsible Usage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Manage screen time wisely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Avoid overuse of social media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technology productively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3563" y="5803745"/>
            <a:ext cx="13337749" cy="302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4242" b="1" spc="-21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Continuous learning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Stay updated with new technologies </a:t>
            </a:r>
          </a:p>
          <a:p>
            <a:pPr algn="l">
              <a:lnSpc>
                <a:spcPts val="5939"/>
              </a:lnSpc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Learn basic cyber security </a:t>
            </a:r>
          </a:p>
          <a:p>
            <a:pPr algn="l">
              <a:lnSpc>
                <a:spcPts val="5939"/>
              </a:lnSpc>
              <a:spcBef>
                <a:spcPct val="0"/>
              </a:spcBef>
            </a:pPr>
            <a:r>
              <a:rPr lang="en-US" sz="4242" spc="-2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 digital skills regularly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89388" y="9032557"/>
            <a:ext cx="15240398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spc="-17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Good digital Habits ensure safety, productivity, and Long-term success.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6096000" y="762066"/>
            <a:ext cx="30019905" cy="1675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62"/>
              </a:lnSpc>
            </a:pPr>
            <a:r>
              <a:rPr lang="en-US" sz="12171" b="1" spc="-608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8023" y="2830938"/>
            <a:ext cx="16031954" cy="501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21457" lvl="1" indent="-610728" algn="l">
              <a:lnSpc>
                <a:spcPts val="7920"/>
              </a:lnSpc>
              <a:buFont typeface="Arial"/>
              <a:buChar char="•"/>
            </a:pPr>
            <a:r>
              <a:rPr lang="en-US" sz="5657" spc="-28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Digital literacy is essential in today's world </a:t>
            </a:r>
          </a:p>
          <a:p>
            <a:pPr marL="1221457" lvl="1" indent="-610728" algn="l">
              <a:lnSpc>
                <a:spcPts val="7920"/>
              </a:lnSpc>
              <a:buFont typeface="Arial"/>
              <a:buChar char="•"/>
            </a:pPr>
            <a:r>
              <a:rPr lang="en-US" sz="5657" spc="-28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Helps us stay safe and responsible online</a:t>
            </a:r>
          </a:p>
          <a:p>
            <a:pPr marL="1221457" lvl="1" indent="-610728" algn="l">
              <a:lnSpc>
                <a:spcPts val="7920"/>
              </a:lnSpc>
              <a:buFont typeface="Arial"/>
              <a:buChar char="•"/>
            </a:pPr>
            <a:r>
              <a:rPr lang="en-US" sz="5657" spc="-28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Builds a strong professional image </a:t>
            </a:r>
          </a:p>
          <a:p>
            <a:pPr marL="1221457" lvl="1" indent="-610728" algn="l">
              <a:lnSpc>
                <a:spcPts val="7920"/>
              </a:lnSpc>
              <a:buFont typeface="Arial"/>
              <a:buChar char="•"/>
            </a:pPr>
            <a:r>
              <a:rPr lang="en-US" sz="5657" spc="-28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Important for academic and career success</a:t>
            </a:r>
          </a:p>
          <a:p>
            <a:pPr marL="1221457" lvl="1" indent="-610728" algn="l">
              <a:lnSpc>
                <a:spcPts val="7920"/>
              </a:lnSpc>
              <a:buFont typeface="Arial"/>
              <a:buChar char="•"/>
            </a:pPr>
            <a:r>
              <a:rPr lang="en-US" sz="5657" spc="-28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Essential for future growth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04077" y="8759190"/>
            <a:ext cx="7211020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spc="-179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 smart. Stay safe. Grow digitally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325</Words>
  <Application>Microsoft Office PowerPoint</Application>
  <PresentationFormat>Custom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Poppins Bold</vt:lpstr>
      <vt:lpstr>Calibri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Literacy</dc:title>
  <cp:lastModifiedBy>Tarun Sengar</cp:lastModifiedBy>
  <cp:revision>2</cp:revision>
  <dcterms:created xsi:type="dcterms:W3CDTF">2006-08-16T00:00:00Z</dcterms:created>
  <dcterms:modified xsi:type="dcterms:W3CDTF">2026-03-30T18:47:24Z</dcterms:modified>
  <dc:identifier>DAHFDKp24xc</dc:identifier>
</cp:coreProperties>
</file>